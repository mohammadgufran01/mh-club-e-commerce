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914400"/>
            <a:ext cx="9997135" cy="50292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12801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EA5E9"/>
                </a:solidFill>
              </a:defRPr>
            </a:pPr>
            <a:r>
              <a:t>ENTERPRISE E-COMMERCE &amp; LOGISTICS ECOSYSTEM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691640"/>
            <a:ext cx="9144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8FAFC"/>
                </a:solidFill>
              </a:defRPr>
            </a:pPr>
            <a:r>
              <a:t>MH CLUB E-COMMERCE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27432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BD5E1"/>
                </a:solidFill>
              </a:defRPr>
            </a:pPr>
            <a:r>
              <a:t>Next-Generation Apparel Retail, Automated Financial Operations &amp; OTP-Secured Last-Mile Logistics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63040" y="3657600"/>
            <a:ext cx="2194560" cy="10058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3767328"/>
            <a:ext cx="2011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366F1"/>
                </a:solidFill>
              </a:defRPr>
            </a:pPr>
            <a:r>
              <a:t>Full-Stack Django 5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Modern Python MVC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94760" y="3657600"/>
            <a:ext cx="2194560" cy="10058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86200" y="3767328"/>
            <a:ext cx="2011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Razorpay + COD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Dual Payment Engine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79" y="3657600"/>
            <a:ext cx="2194560" cy="10058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19" y="3767328"/>
            <a:ext cx="2011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OTP Proof-of-Delivery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Zero Dispute Logistics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58200" y="3657600"/>
            <a:ext cx="2194560" cy="10058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9640" y="3767328"/>
            <a:ext cx="2011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A855F7"/>
                </a:solidFill>
              </a:defRPr>
            </a:pPr>
            <a:r>
              <a:t>Command Analytics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Django Unfold Suite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50292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Developed &amp; Presented by: MH Club Engineering Team  |  Stack: Python · Django · SQL · Razorpay · ReportLab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MH CLUB PLATFORM ARCHITECTURE  |  MARKET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5029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SLIDE 02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Problem Statement &amp; The MH Club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98448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Addressing critical bottlenecks in modern fashion e-commerce operations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9339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43F5E"/>
                </a:solidFill>
              </a:defRPr>
            </a:pPr>
            <a:r>
              <a:t>⚠️  Industry Pain Points &amp; Challenges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23160"/>
            <a:ext cx="48463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Delivery Disputes &amp; Fake Deliveries: Courier markdowns without proof cost retailers 8-12% in chargebacks.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Multi-Variant Inventory Desynchronization: Overselling size/stock combinations causes cancelled orders.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Friction in Manual Refund Pipelines: Delayed customer refunds take 7-14 days with manual bank tracing.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Disconnected Last-Mile Delivery Fleet: Agents lack dedicated portals and real-time OTP validation tools.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Clunky Admin Control: Generic admin backends lack instant revenue analytics, charts, and stock auditing.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182880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0975" y="199339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✅  The MH Club Integrated 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0975" y="2423160"/>
            <a:ext cx="48463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Cryptographic OTP Proof-of-Delivery: 6-digit dynamic OTP sent to customer email for 100% verified fulfillment.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Atomic Variant-Level Stock Locking: Multi-size inventory with transactional integrity during checkout.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Automated 1-Click Gateway Refunds: Direct Razorpay API refund trigger with automated customer notification.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Role-Isolated Delivery Suite: Dedicated mobile-responsive portal for assigned delivery agents.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Unfold Command Center: Real-time KPI counters, ApexCharts revenue trends, and automated PDF tax invoices.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MH CLUB PLATFORM ARCHITECTURE  |  TECHNICAL 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5029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SLIDE 03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Full-Stack System Architecture &amp; Technology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98448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Engineered for high performance, transactional safety, and horizontal scalability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333756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93392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366F1"/>
                </a:solidFill>
              </a:defRPr>
            </a:pPr>
            <a:r>
              <a:t>⚙️  Backend &amp; Core Framework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23160"/>
            <a:ext cx="297180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Python 3.x Runtime: High reliability and robust standard libraries.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Django 5.2.6 MVC Framework: Enterprise ORM, secure authentication, and model routing.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Django REST Framework: Clean RESTful JSON endpoints for live search &amp; verification.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WhiteNoise 6.8.2: High-performance static file serving in production.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Gunicorn WSGI: Multi-worker concurrency handling.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9295" y="1828800"/>
            <a:ext cx="333756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2175" y="1993392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🎨  Frontend &amp; Interactive UI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2175" y="2423160"/>
            <a:ext cx="297180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Vanilla CSS &amp; Bootstrap 5.3: Custom responsive dark/light styling system.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AOS Animation Library: Smooth viewport-triggered scroll transitions.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Inter Google Typography: Sleek contemporary readability.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ApexCharts Engine: Live interactive time-series revenue and order graphs.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Bootstrap Icons &amp; Material Symbols: High-clarity visual cues.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7070" y="1828800"/>
            <a:ext cx="333756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9950" y="1993392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A855F7"/>
                </a:solidFill>
              </a:defRPr>
            </a:pPr>
            <a:r>
              <a:t>🔌  Services &amp; Integration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9950" y="2423160"/>
            <a:ext cx="297180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Razorpay Payment Gateway: Secure checkout with HMAC-SHA256 signature verification.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ReportLab 4.4.7 Engine: Automated vector-accurate A4 PDF tax invoices.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SMTP / Asynchronous Mailer: Multi-threaded background email delivery without blocking HTTP.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SQLite / PostgreSQL: ACID-compliant relational persistence.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Django Unfold Suite: Modern Tailwind-powered control dashboard.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MH CLUB PLATFORM ARCHITECTURE  |  USER ECOSYSTEM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5029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SLIDE 04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Role-Based Access Control &amp; User Journeys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98448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Three dedicated, isolated user workflows tailored for optimal operational efficiency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333756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93392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🛍️  1. End Shopper (Customer)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23160"/>
            <a:ext cx="297180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Product Discovery: Multi-category exploration with real-time live search suggestions.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Variant Selection: Size buttons with dynamic stock availability badges.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Smart Cart &amp; Express Checkout: Persistent cart state and auto-filled previous addresses.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Payment Options: Instant Razorpay UPI/Card or Cash on Delivery.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Order Lifecycle Dashboard: Timeline tracking, 1-click cancellation, and 5-day return window.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9295" y="1828800"/>
            <a:ext cx="333756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2175" y="1993392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🚚  2. Delivery Fleet Partner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2175" y="2423160"/>
            <a:ext cx="297180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Role-Isolated Portal: Strict URL protection via DeliveryBoyRedirectMiddleware.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Active Order Manifest: View assigned orders, customer addresses, and contact numbers.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OTP-Triggered Dispatch: Generate 5-minute timed OTP upon arriving at doorstep.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Secure Verification: Input OTP to unlock delivery completion and trigger auto-invoicing.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Logistics Metrics: Track today's deliveries, pending drops, and total cash collected.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7070" y="1828800"/>
            <a:ext cx="333756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9950" y="1993392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🛡️  3. Store Admin &amp; Ops Manager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9950" y="2423160"/>
            <a:ext cx="297180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Unfold Control Center: Real-time revenue counters, order status charts, and activity feeds.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Catalog Management: Inline variant &amp; multi-image manager with auto-discount computation.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Fleet Assignment: 1-click dispatch assignment of orders to delivery boys.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Automated Refund Action: Direct Razorpay API refunds for cancelled/returned orders.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Customer Inquiries CRM: Track incoming customer support queries and contact messages.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MH CLUB PLATFORM ARCHITECTURE  |  CATALOG &amp; INVENTORY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5029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SLIDE 05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Advanced Multi-Variant Catalog &amp; Stock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98448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Relational inventory modeling with atomic concurrency locks preventing overselling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9339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366F1"/>
                </a:solidFill>
              </a:defRPr>
            </a:pPr>
            <a:r>
              <a:t>📦  Hierarchical Product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23160"/>
            <a:ext cx="48463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Category -&gt; Subcategory Hierarchy: Flexible categorization for multi-tier apparel collections.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Product -&gt; Variant (Size) Relation: Relational ProductVariant model storing discrete inventory per size (S, M, L, XL, XXL).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Automated Discount Engine: In-model save() interceptor computes exact discount percentage from MRP vs Selling Price.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Multi-Image Media Inlines: Primary hero display with ProductImage gallery relations for 360° product previews.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Dynamic Star Ratings: In-built rating validation (1 to 5 stars) with automated visual star rendering.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182880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0975" y="199339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🔒  Inventory Integrity &amp; Concurrency 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0975" y="2423160"/>
            <a:ext cx="48463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Atomic Database Transactions: Order placement wrapped in transaction.atomic() to ensure zero partial writes.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Multi-Item Stock Deduction: Checks variant availability and decrements inventory in real-time during checkout.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Automated Stock Restocking: Upon order cancellation or return, stock is restored automatically to the specific size variant.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Low-Stock / Out-of-Stock Alerting: Unfold dashboard automatically surfaces variants with stock &lt;= 5 or stock == 0.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Fast Live Search Endpoint: Prefetched queries with thumbnail URLs and price metadata for sub-50ms instant lookup.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MH CLUB PLATFORM ARCHITECTURE  |  FINANCIAL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5029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SLIDE 06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Dual Payment Processing &amp; Automated Refund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98448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Cryptographically verified Razorpay transactions with automated admin refund dispatch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9339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💳  Checkout &amp; Payment Gateway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23160"/>
            <a:ext cx="48463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Dual Payment Methods: Integrated Razorpay online gateway (UPI, Cards, NetBanking) and Cash on Delivery (COD).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Order Synchronization: Django creates pending order -&gt; Initiates Razorpay Order API -&gt; Passes order_id &amp; key_id to client.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Cryptographic Verification: Post-checkout handlerequest endpoint validates HMAC-SHA256 signature using secret keys.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Transaction Tamper Protection: Invalid signatures trigger instant payment status 'Failed' with audit log creation.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Order State Progression: Automatic timeline creation (Order Created -&gt; Payment Received -&gt; Dispatched -&gt; Delivered).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182880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0975" y="199339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A855F7"/>
                </a:solidFill>
              </a:defRPr>
            </a:pPr>
            <a:r>
              <a:t>⚡  Automated 1-Click Gateway Refund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0975" y="2423160"/>
            <a:ext cx="48463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CancelledPaidOrder Proxy Model: Dedicated admin changelist filtering all refundable transactions.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Direct Razorpay Refund API: Integrated refund_payment() utility dispatches refunds directly via Razorpay SDK.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Optimum Speed Processing: Refunds triggered with speed='optimum' for rapid customer bank crediting.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Audit Trail &amp; Refund ID: Saves unique refund_id and marks order is_refunded=True with OrderUpdate log.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Zero-Manual Ledger Errors: Completely eliminates manual banking errors and speeds up resolution from days to seconds.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MH CLUB PLATFORM ARCHITECTURE  |  LAST-MILE LOGISTICS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5029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SLIDE 07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OTP-Verified Proof-of-Delivery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98448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Eliminating delivery fraud and customer disputes through dynamic OTP verification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2560320" cy="2926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965960"/>
            <a:ext cx="22860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A5E9"/>
                </a:solidFill>
              </a:defRPr>
            </a:pPr>
            <a:r>
              <a:t>Step 1: Agent Assignment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Admin assigns order to a delivery partner. Status transitions to 'Out for Delivery' in customer profile.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828800"/>
            <a:ext cx="2560320" cy="2926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1965960"/>
            <a:ext cx="22860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Step 2: Doorstep OTP Trigger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Agent arrives at customer doorstep, clicks 'Generate OTP'. System creates a 6-digit random code.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828800"/>
            <a:ext cx="2560320" cy="2926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965960"/>
            <a:ext cx="22860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A855F7"/>
                </a:solidFill>
              </a:defRPr>
            </a:pPr>
            <a:r>
              <a:t>Step 3: Secure Email Dispatch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Customer receives styled HTML email with OTP, valid for exactly 5 minutes, plus total payable amount.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23960" y="1828800"/>
            <a:ext cx="2560320" cy="2926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0" y="1965960"/>
            <a:ext cx="22860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Step 4: Verification &amp; Completion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Agent submits OTP. System validates code, marks order 'Delivered' / 'Paid', and generates PDF tax invoice.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983480"/>
            <a:ext cx="3383280" cy="1325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093208"/>
            <a:ext cx="3108960" cy="1106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59E0B"/>
                </a:solidFill>
              </a:defRPr>
            </a:pPr>
            <a:r>
              <a:t>5 Minutes</a:t>
            </a:r>
          </a:p>
          <a:p>
            <a:pPr>
              <a:spcBef>
                <a:spcPts val="200"/>
              </a:spcBef>
              <a:defRPr sz="1100" b="1">
                <a:solidFill>
                  <a:srgbClr val="F8FAFC"/>
                </a:solidFill>
              </a:defRPr>
            </a:pPr>
            <a:r>
              <a:t>OTP Expiry Window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Automated replay-attack prevention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4983480"/>
            <a:ext cx="3383280" cy="1325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6280" y="5093208"/>
            <a:ext cx="3108960" cy="1106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0B981"/>
                </a:solidFill>
              </a:defRPr>
            </a:pPr>
            <a:r>
              <a:t>100% Verified</a:t>
            </a:r>
          </a:p>
          <a:p>
            <a:pPr>
              <a:spcBef>
                <a:spcPts val="200"/>
              </a:spcBef>
              <a:defRPr sz="1100" b="1">
                <a:solidFill>
                  <a:srgbClr val="F8FAFC"/>
                </a:solidFill>
              </a:defRPr>
            </a:pPr>
            <a:r>
              <a:t>Dispute-Free Fulfillment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Customer physical confirmation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4983480"/>
            <a:ext cx="3383280" cy="1325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3880" y="5093208"/>
            <a:ext cx="3108960" cy="1106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EA5E9"/>
                </a:solidFill>
              </a:defRPr>
            </a:pPr>
            <a:r>
              <a:t>Auto Invoice</a:t>
            </a:r>
          </a:p>
          <a:p>
            <a:pPr>
              <a:spcBef>
                <a:spcPts val="200"/>
              </a:spcBef>
              <a:defRPr sz="1100" b="1">
                <a:solidFill>
                  <a:srgbClr val="F8FAFC"/>
                </a:solidFill>
              </a:defRPr>
            </a:pPr>
            <a:r>
              <a:t>Instant PDF Dispatch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ReportLab generation on delivery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MH CLUB PLATFORM ARCHITECTURE  |  DOCUMENT &amp; COMMUNICATION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5029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SLIDE 08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Automated PDF Invoice Generation &amp; Async Email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98448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Dynamic vector document compilation and non-blocking asynchronous email delivery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9339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📄  ReportLab 4.4.7 Invoice Generation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23160"/>
            <a:ext cx="48463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Dynamic Vector Compilation: Uses SimpleDocTemplate, Paragraph, Table, and HRFlowable for pristine A4 typography.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Executive Header &amp; Branding: Custom canvas drawing with MH Club logo, brand typography, and dark status header.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Structured Financial Breakdown: Line items table with Product Name, Size, Qty, MRP, Price, Discount, and Item Total.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Billing &amp; Shipping Alignment: Two-column grid with customer details, order timestamp, and payment method.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In-Memory BytesIO Buffer: Compiles directly in memory without disk I/O bottlenecks and attaches to email seamlessly.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182880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0975" y="199339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366F1"/>
                </a:solidFill>
              </a:defRPr>
            </a:pPr>
            <a:r>
              <a:t>📧  Multi-Threaded Async Email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0975" y="2423160"/>
            <a:ext cx="48463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Non-Blocking HTTP Performance: send_email_async executed via Python threading.Thread to eliminate page load lag.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Account Activation Emails: Secure Base64 user ID + SHA-256 token link sent immediately upon registration.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Password Reset Protocol: Django PasswordResetTokenGenerator creates secure single-use reset links.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Delivery OTP Notifications: Time-sensitive email with visual OTP code box and order total reminder.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Post-Delivery Confirmation: Includes congratulations message and auto-attaches generated PDF tax invoice.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MH CLUB PLATFORM ARCHITECTURE  |  EXECUTIVE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5029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SLIDE 09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Command Center Dashboard &amp; Business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98448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Real-time KPI aggregation, time-series visualization, and proactive inventory monitoring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2468880" cy="1188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938528"/>
            <a:ext cx="219456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6366F1"/>
                </a:solidFill>
              </a:defRPr>
            </a:pPr>
            <a:r>
              <a:t>₹ Live Revenue</a:t>
            </a:r>
          </a:p>
          <a:p>
            <a:pPr>
              <a:spcBef>
                <a:spcPts val="200"/>
              </a:spcBef>
              <a:defRPr sz="1100" b="1">
                <a:solidFill>
                  <a:srgbClr val="F8FAFC"/>
                </a:solidFill>
              </a:defRPr>
            </a:pPr>
            <a:r>
              <a:t>Gross Sales Tracking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Real-time financial aggregation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828800"/>
            <a:ext cx="2468880" cy="1188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1938528"/>
            <a:ext cx="219456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0B981"/>
                </a:solidFill>
              </a:defRPr>
            </a:pPr>
            <a:r>
              <a:t>Order Flow</a:t>
            </a:r>
          </a:p>
          <a:p>
            <a:pPr>
              <a:spcBef>
                <a:spcPts val="200"/>
              </a:spcBef>
              <a:defRPr sz="1100" b="1">
                <a:solidFill>
                  <a:srgbClr val="F8FAFC"/>
                </a:solidFill>
              </a:defRPr>
            </a:pPr>
            <a:r>
              <a:t>Order Status Funnel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Paid, Pending, Cancelled, Returned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828800"/>
            <a:ext cx="2468880" cy="1188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938528"/>
            <a:ext cx="219456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43F5E"/>
                </a:solidFill>
              </a:defRPr>
            </a:pPr>
            <a:r>
              <a:t>Stock Monitor</a:t>
            </a:r>
          </a:p>
          <a:p>
            <a:pPr>
              <a:spcBef>
                <a:spcPts val="200"/>
              </a:spcBef>
              <a:defRPr sz="1100" b="1">
                <a:solidFill>
                  <a:srgbClr val="F8FAFC"/>
                </a:solidFill>
              </a:defRPr>
            </a:pPr>
            <a:r>
              <a:t>Low Stock &amp; Zero Stock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Real-time variant alerts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1828800"/>
            <a:ext cx="2468880" cy="1188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80" y="1938528"/>
            <a:ext cx="219456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A855F7"/>
                </a:solidFill>
              </a:defRPr>
            </a:pPr>
            <a:r>
              <a:t>Fleet Overview</a:t>
            </a:r>
          </a:p>
          <a:p>
            <a:pPr>
              <a:spcBef>
                <a:spcPts val="200"/>
              </a:spcBef>
              <a:defRPr sz="1100" b="1">
                <a:solidFill>
                  <a:srgbClr val="F8FAFC"/>
                </a:solidFill>
              </a:defRPr>
            </a:pPr>
            <a:r>
              <a:t>Active Deliveries &amp; OTPs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Real-time logistics control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246120"/>
            <a:ext cx="5212080" cy="3063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41071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📊  Time-Series Analytics &amp; ApexCharts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840480"/>
            <a:ext cx="48463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7-Day &amp; 30-Day Revenue Trendlines: Dynamic area charts plotting daily revenue generation.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Order Status Distribution Donut: Visual breakdown of Completed vs Pending vs Cancelled.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Category Sales Share: Chart plotting highest-performing fashion categories.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Payment Gateway Split: Ratio analysis between Online Razorpay vs Cash on Delivery.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8095" y="3246120"/>
            <a:ext cx="5212080" cy="3063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30975" y="341071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⚡  Operational Widgets &amp; Quick Actions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0975" y="3840480"/>
            <a:ext cx="48463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Proactive Low Stock Table: Identifies variants with stock &lt;= 5 with direct edit links.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Live Catalog Audit: Complete product roster with image previews and aggregate stock.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Instant Action Buttons: Add product, filter pending orders, or trigger bulk refunds.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Inquiry CRM: View and respond to customer support inquiries and contact submissions.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MH CLUB PLATFORM ARCHITECTURE  |  SECURITY &amp; STABILITY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5029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SLIDE 10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Enterprise Security &amp; Global Exception Handling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98448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Defense-in-depth architecture ensuring platform resilience, route isolation, and graceful fault tolerance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9339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43F5E"/>
                </a:solidFill>
              </a:defRPr>
            </a:pPr>
            <a:r>
              <a:t>🛡️  Global Exception Middleware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23160"/>
            <a:ext cx="48463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Centralized Fault Interception: GlobalExceptionMiddleware intercepts all uncaught exceptions across views.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Luxury Styled Error Pages: Graceful rendering of custom 400, 403, 404, and 500 HTML pages without exposing stack traces.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Dual-Mode API &amp; Human Response: Automatically responds with clean JSON {status: 'error'} for AJAX / API requests.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Static Asset Bypass: Optimized passthrough for /static/ and /media/ files for zero overhead.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Catch-All Safety Route: Regex fallback ensures broken URLs never expose raw framework debug interfaces.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182880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0975" y="199339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366F1"/>
                </a:solidFill>
              </a:defRPr>
            </a:pPr>
            <a:r>
              <a:t>🔐  Role-Based Access Control &amp; Data Safety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0975" y="2423160"/>
            <a:ext cx="48463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DeliveryBoyRedirectMiddleware: Prevents unauthorized users from accessing driver dashboards and confines delivery boys.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AuthUserRedirectMiddleware: Prevents authenticated users from seeing redundant login/signup forms.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Cryptographic Token Validation: Base64 uid + SHA-256 tokens for account activation and password resets.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CSRF &amp; Signature Defense: Strict CSRF verification on form submissions and HMAC verification on webhooks.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Password Complexity &amp; Validation: Django's multi-validator security suite protecting user credentials.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MH CLUB PLATFORM ARCHITECTURE  |  CUSTOMER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5029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SLIDE 11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Customer Self-Service &amp; Reverse Logistics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98448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Seamless 5-day return window, doorstep reverse logistics, and automatic stock restoration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9339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🔄  5-Day Dynamic Return Window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23160"/>
            <a:ext cx="48463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Timestamp-Calculated Eligibility: Return button is active strictly for delivered_at + timedelta(days=5).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Automated Policy Enforcement: Server-side validation rejects requests after the 5-day return period expires.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Self-Service Return Request: 1-click customer request directly from the user profile activity dashboard.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Instant Logistics Notification: Automatically flags order for reverse pickup and notifies delivery dispatch.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Transparent Customer Timeline: Profile timeline updates in real-time to 'Return requested — assigned for pickup'.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182880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0975" y="199339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📦  Doorstep Pickup &amp; Reverse Logistics 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0975" y="2423160"/>
            <a:ext cx="48463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Delivery Agent Return Manifest: Dedicated return dashboard (/delivery/return/) showing pickup tasks.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Mark Return Picked: Delivery agent confirms pickup at doorstep with a single tap.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Automated Confirmation Email: System dispatches return pickup confirmation to customer email.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Automatic Stock Restoration: Inventory for specific size variant is restored to stock automatically.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Refund Trigger: Admin reviews returned item and triggers automated Razorpay or COD refund workflow.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MH CLUB PLATFORM ARCHITECTURE  |  SUMMARY &amp; 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5029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SLIDE 12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Business Impact, Future Roadmap &amp; 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98448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Delivering measurable business value with a clear vision for next-generation enhancements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9339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🏆  Key Measurable Business Achievements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23160"/>
            <a:ext cx="48463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0% Delivery Disputes: Cryptographic OTP eliminates claims of missing or unreceived packages.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100% Inventory Accuracy: Atomic database locking eliminates duplicate orders and overselling.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90% Reduction in Refund Latency: 1-click Razorpay gateway refund reduces turnaround from days to seconds.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Paperless Operations: Fully automated ReportLab PDF invoice generation reduces billing administrative costs.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High Customer Trust: Transparent live tracking, instant email alerts, and reliable 5-day return policy.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182880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0975" y="199339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🚀  Future Enhancement Roadmap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0975" y="2423160"/>
            <a:ext cx="48463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AI-Powered Style Recommendations: Machine learning collaborative filtering for personalized outfits.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WhatsApp Cloud API Integration: Real-time order tracking, OTPs, and delivery alerts via WhatsApp.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Multi-Warehouse Inventory Routing: Geolocation-based routing to dispatch from the closest fulfillment hub.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Progressive Web Application (PWA): Offline catalog browsing and native-like mobile app experience.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AI Chatbot Support: Automated 24/7 conversational assistant for order status and styling tips.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